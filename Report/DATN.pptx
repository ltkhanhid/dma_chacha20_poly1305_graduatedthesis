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  <p:sldMasterId id="2147483653" r:id="rId4"/>
    <p:sldMasterId id="2147483664" r:id="rId5"/>
    <p:sldMasterId id="2147483666" r:id="rId6"/>
    <p:sldMasterId id="2147483668" r:id="rId7"/>
  </p:sldMasterIdLst>
  <p:notesMasterIdLst>
    <p:notesMasterId r:id="rId31"/>
  </p:notesMasterIdLst>
  <p:sldIdLst>
    <p:sldId id="256" r:id="rId8"/>
    <p:sldId id="269" r:id="rId9"/>
    <p:sldId id="290" r:id="rId10"/>
    <p:sldId id="296" r:id="rId11"/>
    <p:sldId id="297" r:id="rId12"/>
    <p:sldId id="270" r:id="rId13"/>
    <p:sldId id="295" r:id="rId14"/>
    <p:sldId id="298" r:id="rId15"/>
    <p:sldId id="299" r:id="rId16"/>
    <p:sldId id="300" r:id="rId17"/>
    <p:sldId id="301" r:id="rId18"/>
    <p:sldId id="302" r:id="rId19"/>
    <p:sldId id="303" r:id="rId20"/>
    <p:sldId id="306" r:id="rId21"/>
    <p:sldId id="311" r:id="rId22"/>
    <p:sldId id="304" r:id="rId23"/>
    <p:sldId id="305" r:id="rId24"/>
    <p:sldId id="307" r:id="rId25"/>
    <p:sldId id="309" r:id="rId26"/>
    <p:sldId id="310" r:id="rId27"/>
    <p:sldId id="308" r:id="rId28"/>
    <p:sldId id="293" r:id="rId29"/>
    <p:sldId id="288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MNE492a+rOTHRnEHoMukfWjI9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6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03F6A23C-3D0E-B23D-9A28-1C83BBC4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FF4647BC-84BA-47D8-B4DB-0DD7E33AD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EAA28F64-FB2C-F07F-EBA2-030F3915F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26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DF74FD5-8995-9FFE-388C-2784D3AE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6F9F9BB-5AE3-1A71-11A8-64CD944F1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1616E9FD-0BF4-9ED0-8B59-051DEE1B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86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61A5CD5-4C55-D290-2980-1E0D3CD9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5DD0636-8584-0265-BB4E-167E25546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FE562F61-BAD6-EA00-D853-B1ED9A875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460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F2F8858C-BCEC-3B16-AF75-3E22EF9A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32A2935-498B-ACDE-FBE5-3A6B13B2E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BEDBC912-8C64-2136-BB92-E2A273848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201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15739CF9-1461-1F78-978E-0D8FC672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4F8D280-F018-27C6-9F11-5BFE6F3B3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99B41760-2163-8073-059F-87DDF166F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1834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B39CE8D3-CD14-1A84-0450-0B3249287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1B34723-E70B-4E7C-AB82-4A7BB38D3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9DF351BC-B03D-8EE6-21FC-4BB838758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4561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D7F9A251-3BC2-E855-C0A3-D8C279C5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7DB9946-4135-E1DC-8F46-D2A2C34CD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5AAC31A3-1757-5AE1-0D94-8DFEFB5B8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8690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6FD935C-A43B-030A-DA0A-44BC689A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81719DF-4F7E-F6AB-5282-A3C3EE3B5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C6989883-48E4-B627-9AB4-7F93802E10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0400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517B1D89-42C9-A8E4-F6D3-FFD70D5E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A2EDA03-5259-56E4-E843-7B65C0156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6CF6FF78-6BD9-10F4-3BC5-CBD35712D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227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4956358B-1555-1DE7-0B5D-EA691377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664916D-CAA6-32F3-43F8-58ECBA76F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D6A38F65-4C49-1D9C-7959-8081880C2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781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47019D5F-06CE-EEC1-6BA6-13EF6892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D4171167-A21A-CF5F-FBFA-CB92929EE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344DF24D-4DC2-9E98-FDB4-271BD22A2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450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110BD398-ADA2-D37A-74DD-9F479F18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A7F8ACF-F745-6C19-6551-8A9A0A409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61A4F5CD-36D0-1B82-020C-392CC1CF2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682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924742F-9743-D55A-40BB-1573F882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687CC9B7-EA3C-269D-0850-A183B3016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1D8D60D8-D3DA-679C-C59A-696AD6101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875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6936DB9-F77E-3449-0828-C8078F4E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EEA39BC-6CF2-A530-8F09-3D5C98B0E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5A311E58-BA62-7E35-C820-DDA3BCF67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8590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31234E0-3EE1-5FB6-B78A-56FEFA06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56A31AD7-90FE-6C58-9601-2EF81A9F3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63D04B27-E2C9-531B-A293-EC647D4CF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4752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0E2A7A62-5BFD-3E95-4F5A-6F37646F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B21992A-DA52-DC21-EA41-7775B27D3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AD8011D9-A099-DB00-1A92-521463521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445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FEBD274A-61F0-7244-BD13-8373F8ED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03CB9A4-C313-3028-E5B2-D5977C7D0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F2631B1F-6307-A64E-D086-1A9D7F191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5706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115F7123-2EE9-08D7-C9D9-60454F0C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A68F8CC5-F0D9-7F5E-2DCA-447C81D18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4CCF3667-CE0C-FC4B-09C0-50F51FBA0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9588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2CD4DD8-E5F4-D147-B562-6F6A3E7D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CFA76D3A-90A5-A606-1C87-1C840C3D5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20BF8464-F430-1F9C-3A96-26E1DB8AA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9807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6523BBD4-2414-848E-EF80-18F620D7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2C2E6078-E2CF-249D-2958-3428F3140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DBBF10F7-01B0-FC02-312B-55F71BC09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660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11CF337B-1B33-4E99-B0C8-C58BF637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E0EAD3E-C80B-BE7B-C25F-E36069EE8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EED4EB71-3518-D48E-2992-944CF8D36E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26440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8453705-5C0B-247E-381F-B91423F5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>
            <a:extLst>
              <a:ext uri="{FF2B5EF4-FFF2-40B4-BE49-F238E27FC236}">
                <a16:creationId xmlns:a16="http://schemas.microsoft.com/office/drawing/2014/main" id="{07998D99-8113-D964-2C7F-98FBF3411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>
            <a:extLst>
              <a:ext uri="{FF2B5EF4-FFF2-40B4-BE49-F238E27FC236}">
                <a16:creationId xmlns:a16="http://schemas.microsoft.com/office/drawing/2014/main" id="{1CD2B761-8390-1C10-623D-E62CEE009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50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85800" y="274638"/>
            <a:ext cx="80010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800100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381000" y="2667000"/>
            <a:ext cx="84010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0" y="990600"/>
            <a:ext cx="8437562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/>
          <p:nvPr/>
        </p:nvSpPr>
        <p:spPr>
          <a:xfrm>
            <a:off x="-92075" y="220662"/>
            <a:ext cx="9326562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ĐẠI HỌC QUỐC GIA TP.HỒ CHÍ MINH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TRƯỜNG ĐẠI HỌC BÁCH KHOA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200"/>
              <a:buFont typeface="Arial"/>
              <a:buNone/>
            </a:pPr>
            <a:r>
              <a:rPr lang="en-US" sz="2200" b="1" i="0" u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KHOA ĐIỆN-ĐIỆN TỬ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</a:t>
            </a:r>
            <a:endParaRPr dirty="0"/>
          </a:p>
        </p:txBody>
      </p:sp>
      <p:sp>
        <p:nvSpPr>
          <p:cNvPr id="13" name="Google Shape;13;p11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3117850" y="6432550"/>
            <a:ext cx="2895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1" i="0" u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</a:t>
            </a:r>
            <a:r>
              <a:rPr lang="en-US" sz="1400" b="1" i="0" u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Chí Minh  05 / 02 / 2026</a:t>
            </a:r>
            <a:endParaRPr dirty="0"/>
          </a:p>
        </p:txBody>
      </p:sp>
      <p:sp>
        <p:nvSpPr>
          <p:cNvPr id="15" name="Google Shape;15;p11"/>
          <p:cNvSpPr txBox="1"/>
          <p:nvPr/>
        </p:nvSpPr>
        <p:spPr>
          <a:xfrm>
            <a:off x="0" y="2438400"/>
            <a:ext cx="9144000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3600"/>
              <a:buFont typeface="Arial"/>
              <a:buNone/>
            </a:pPr>
            <a:r>
              <a:rPr lang="en-US" sz="36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LUẬN VĂN TỐT NGHIỆP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vi-VN" sz="2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hiết</a:t>
            </a:r>
            <a:r>
              <a:rPr lang="vi-VN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kế bộ điều khiển DMA và </a:t>
            </a:r>
            <a:r>
              <a:rPr lang="en-US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IP </a:t>
            </a:r>
            <a:r>
              <a:rPr lang="vi-VN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ChaCha20-Poly1305 trên nền tảng </a:t>
            </a:r>
            <a:r>
              <a:rPr lang="vi-VN" sz="2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SoC</a:t>
            </a:r>
            <a:r>
              <a:rPr lang="vi-VN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RISC-V sử dụng </a:t>
            </a:r>
            <a:r>
              <a:rPr lang="vi-VN" sz="2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TileLink</a:t>
            </a:r>
            <a:r>
              <a:rPr lang="vi-VN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Uncached</a:t>
            </a:r>
            <a:r>
              <a:rPr lang="vi-VN" sz="20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0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Lightweight</a:t>
            </a:r>
            <a:endParaRPr sz="2000" b="1" i="0" u="none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dirty="0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GVHD: PGS.TS </a:t>
            </a:r>
            <a:r>
              <a:rPr lang="en-US" sz="24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Trần</a:t>
            </a:r>
            <a:r>
              <a:rPr lang="en-US" sz="2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Hoàng Linh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SV: Lê Tuấn Khanh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MSSV: 2211485</a:t>
            </a:r>
            <a:endParaRPr dirty="0"/>
          </a:p>
        </p:txBody>
      </p:sp>
      <p:pic>
        <p:nvPicPr>
          <p:cNvPr id="16" name="Google Shape;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0" y="179387"/>
            <a:ext cx="1716087" cy="156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3" descr="Logo_hcmu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784"/>
              </a:srgbClr>
            </a:outerShdw>
          </a:effectLst>
        </p:spPr>
      </p:pic>
      <p:sp>
        <p:nvSpPr>
          <p:cNvPr id="24" name="Google Shape;24;p13"/>
          <p:cNvSpPr txBox="1"/>
          <p:nvPr/>
        </p:nvSpPr>
        <p:spPr>
          <a:xfrm>
            <a:off x="3759200" y="6477000"/>
            <a:ext cx="1770332" cy="338514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1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Lê Tuấn Khanh</a:t>
            </a:r>
            <a:endParaRPr dirty="0"/>
          </a:p>
        </p:txBody>
      </p:sp>
      <p:cxnSp>
        <p:nvCxnSpPr>
          <p:cNvPr id="25" name="Google Shape;25;p13"/>
          <p:cNvCxnSpPr/>
          <p:nvPr/>
        </p:nvCxnSpPr>
        <p:spPr>
          <a:xfrm>
            <a:off x="152400" y="990600"/>
            <a:ext cx="8839200" cy="0"/>
          </a:xfrm>
          <a:prstGeom prst="straightConnector1">
            <a:avLst/>
          </a:prstGeom>
          <a:noFill/>
          <a:ln w="50800" cap="flat" cmpd="sng">
            <a:solidFill>
              <a:srgbClr val="0070C0"/>
            </a:solidFill>
            <a:prstDash val="solid"/>
            <a:bevel/>
            <a:headEnd type="diamond" w="med" len="med"/>
            <a:tailEnd type="none" w="med" len="med"/>
          </a:ln>
        </p:spPr>
      </p:cxnSp>
      <p:sp>
        <p:nvSpPr>
          <p:cNvPr id="26" name="Google Shape;26;p13"/>
          <p:cNvSpPr txBox="1"/>
          <p:nvPr/>
        </p:nvSpPr>
        <p:spPr>
          <a:xfrm>
            <a:off x="152399" y="6519862"/>
            <a:ext cx="3235595" cy="338137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Bộ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môn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Kỹ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Thuật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Điện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-LVTN</a:t>
            </a:r>
            <a:endParaRPr dirty="0"/>
          </a:p>
        </p:txBody>
      </p:sp>
      <p:sp>
        <p:nvSpPr>
          <p:cNvPr id="27" name="Google Shape;27;p13"/>
          <p:cNvSpPr txBox="1"/>
          <p:nvPr/>
        </p:nvSpPr>
        <p:spPr>
          <a:xfrm>
            <a:off x="5900737" y="6454775"/>
            <a:ext cx="2743200" cy="338137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29 / 03 / 2026</a:t>
            </a:r>
            <a:endParaRPr dirty="0"/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7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7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784"/>
              </a:srgbClr>
            </a:outerShdw>
          </a:effectLst>
        </p:spPr>
      </p:pic>
      <p:sp>
        <p:nvSpPr>
          <p:cNvPr id="120" name="Google Shape;120;p27"/>
          <p:cNvSpPr txBox="1"/>
          <p:nvPr/>
        </p:nvSpPr>
        <p:spPr>
          <a:xfrm>
            <a:off x="0" y="4343400"/>
            <a:ext cx="9326562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3390900" y="6453187"/>
            <a:ext cx="2895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2971800" y="5791200"/>
            <a:ext cx="30480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/>
          <p:nvPr/>
        </p:nvSpPr>
        <p:spPr>
          <a:xfrm>
            <a:off x="0" y="76200"/>
            <a:ext cx="9131300" cy="12192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9" descr="hinh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9" descr="Logo_hcmu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784"/>
              </a:srgbClr>
            </a:outerShdw>
          </a:effectLst>
        </p:spPr>
      </p:pic>
      <p:sp>
        <p:nvSpPr>
          <p:cNvPr id="133" name="Google Shape;133;p29"/>
          <p:cNvSpPr txBox="1"/>
          <p:nvPr/>
        </p:nvSpPr>
        <p:spPr>
          <a:xfrm>
            <a:off x="4114800" y="6597650"/>
            <a:ext cx="914400" cy="33655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853A55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4805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DD4805"/>
                </a:solidFill>
                <a:latin typeface="Arial"/>
                <a:ea typeface="Arial"/>
                <a:cs typeface="Arial"/>
                <a:sym typeface="Arial"/>
              </a:rPr>
              <a:t>09/2011</a:t>
            </a:r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69999">
              <a:srgbClr val="C4D6EB"/>
            </a:gs>
            <a:gs pos="100000">
              <a:srgbClr val="FFEBFA"/>
            </a:gs>
          </a:gsLst>
          <a:lin ang="2700000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1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1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1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784"/>
              </a:srgbClr>
            </a:outerShdw>
          </a:effectLst>
        </p:spPr>
      </p:pic>
      <p:sp>
        <p:nvSpPr>
          <p:cNvPr id="149" name="Google Shape;149;p31"/>
          <p:cNvSpPr txBox="1"/>
          <p:nvPr/>
        </p:nvSpPr>
        <p:spPr>
          <a:xfrm>
            <a:off x="0" y="4343400"/>
            <a:ext cx="9326562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/>
          </a:p>
        </p:txBody>
      </p:sp>
      <p:sp>
        <p:nvSpPr>
          <p:cNvPr id="150" name="Google Shape;150;p31"/>
          <p:cNvSpPr txBox="1"/>
          <p:nvPr/>
        </p:nvSpPr>
        <p:spPr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390900" y="6453187"/>
            <a:ext cx="2895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/>
          </a:p>
        </p:txBody>
      </p:sp>
      <p:sp>
        <p:nvSpPr>
          <p:cNvPr id="152" name="Google Shape;152;p31"/>
          <p:cNvSpPr txBox="1"/>
          <p:nvPr/>
        </p:nvSpPr>
        <p:spPr>
          <a:xfrm>
            <a:off x="2971800" y="5791200"/>
            <a:ext cx="30480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dirty="0">
              <a:solidFill>
                <a:schemeClr val="bg2"/>
              </a:solidFill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dirty="0">
              <a:solidFill>
                <a:schemeClr val="bg2"/>
              </a:solidFill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>
                <a:solidFill>
                  <a:schemeClr val="bg2"/>
                </a:solidFill>
              </a:rPr>
              <a:t>1</a:t>
            </a:fld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F034AF35-7931-D047-5456-96477497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61156E5E-F743-F252-BAF9-2D2D5C82A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08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 dirty="0" err="1">
                <a:solidFill>
                  <a:srgbClr val="3376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Nội</a:t>
            </a:r>
            <a:r>
              <a:rPr lang="en-US" sz="4000" b="1" i="0" u="none" dirty="0">
                <a:solidFill>
                  <a:srgbClr val="3376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dung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2F25FDDF-E65B-BA93-CF15-8F7F78DAB9CD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219E6-85B1-A99F-7A2A-CA695C61065C}"/>
              </a:ext>
            </a:extLst>
          </p:cNvPr>
          <p:cNvSpPr txBox="1"/>
          <p:nvPr/>
        </p:nvSpPr>
        <p:spPr>
          <a:xfrm>
            <a:off x="493776" y="1216374"/>
            <a:ext cx="7900416" cy="472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Giới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thiệu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Nhiệm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vụ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minh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hiện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luận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hướng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phát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triển</a:t>
            </a:r>
            <a:endParaRPr lang="vi-VN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18DF0-9A5D-38F2-73D7-249AAB029B73}"/>
              </a:ext>
            </a:extLst>
          </p:cNvPr>
          <p:cNvSpPr txBox="1"/>
          <p:nvPr/>
        </p:nvSpPr>
        <p:spPr>
          <a:xfrm>
            <a:off x="5862325" y="6492875"/>
            <a:ext cx="22961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accent1">
                    <a:lumMod val="75000"/>
                  </a:schemeClr>
                </a:solidFill>
              </a:rPr>
              <a:t>Ngày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08/01/2026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5409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43395FE0-78EA-31A4-90B5-869879E1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6A45DA6-62C9-75A8-CB73-E8EF93F61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l">
              <a:buClr>
                <a:srgbClr val="3376C7"/>
              </a:buClr>
              <a:buSzPts val="4000"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1.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Giới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thiệu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tổng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quan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hệ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thống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565D95CE-7407-65D0-F75E-4CDC6C148AE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0623A-16C1-DA1F-304F-2ECA8CA1AAB3}"/>
              </a:ext>
            </a:extLst>
          </p:cNvPr>
          <p:cNvSpPr txBox="1"/>
          <p:nvPr/>
        </p:nvSpPr>
        <p:spPr>
          <a:xfrm>
            <a:off x="23548" y="1243786"/>
            <a:ext cx="9128732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Các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IoT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qua UART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dàng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cắp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ChaCha20-Poly1305: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đại</a:t>
            </a:r>
            <a:r>
              <a:rPr lang="en-US" sz="2400" dirty="0"/>
              <a:t> do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ARX (Add-Rotate-</a:t>
            </a:r>
            <a:r>
              <a:rPr lang="en-US" sz="2400" dirty="0" err="1"/>
              <a:t>Xor</a:t>
            </a:r>
            <a:r>
              <a:rPr lang="en-US" sz="2400" dirty="0"/>
              <a:t>) </a:t>
            </a:r>
            <a:r>
              <a:rPr lang="en-US" sz="2400" dirty="0" err="1">
                <a:sym typeface="Wingdings" panose="05000000000000000000" pitchFamily="2" charset="2"/>
              </a:rPr>
              <a:t>dễ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dàng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thiết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kế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và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tích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hợp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ym typeface="Wingdings" panose="05000000000000000000" pitchFamily="2" charset="2"/>
              </a:rPr>
              <a:t>Do </a:t>
            </a:r>
            <a:r>
              <a:rPr lang="en-US" sz="2400" dirty="0" err="1">
                <a:sym typeface="Wingdings" panose="05000000000000000000" pitchFamily="2" charset="2"/>
              </a:rPr>
              <a:t>giao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tiếp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giữa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bộ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tăng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tốc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phần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cứng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cần</a:t>
            </a:r>
            <a:r>
              <a:rPr lang="en-US" sz="2400" dirty="0">
                <a:sym typeface="Wingdings" panose="05000000000000000000" pitchFamily="2" charset="2"/>
              </a:rPr>
              <a:t> 16 word  DMA </a:t>
            </a:r>
            <a:r>
              <a:rPr lang="en-US" sz="2400" dirty="0" err="1">
                <a:sym typeface="Wingdings" panose="05000000000000000000" pitchFamily="2" charset="2"/>
              </a:rPr>
              <a:t>giải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quyết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vấn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đề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548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9C069DF3-F3E1-704C-75BA-B586BB60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99478644-0715-1CB2-8FCF-5E3D928ED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1.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Giới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thiệu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tổng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quan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hệ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thống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4BD51FC8-7DDD-D6EF-69B2-FBBDF878DEA2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5AF5F-1F09-5374-CE64-D2DF9B301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540" y="1155636"/>
            <a:ext cx="4764499" cy="467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F41AFF-1685-6FD0-6CAC-F99E913E4672}"/>
              </a:ext>
            </a:extLst>
          </p:cNvPr>
          <p:cNvSpPr txBox="1"/>
          <p:nvPr/>
        </p:nvSpPr>
        <p:spPr>
          <a:xfrm>
            <a:off x="3124795" y="5834424"/>
            <a:ext cx="3627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293282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73792378-4905-29F2-EAC8-15E2B906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59797BCB-1612-EE5A-AE7A-A647612EB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1.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Giới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thiệu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tổng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quan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hệ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thống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7AD605FF-020C-36DB-BCD0-CBEAFB901C7E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694A2-B1A8-872B-2324-52544B997B59}"/>
              </a:ext>
            </a:extLst>
          </p:cNvPr>
          <p:cNvSpPr txBox="1"/>
          <p:nvPr/>
        </p:nvSpPr>
        <p:spPr>
          <a:xfrm>
            <a:off x="2620984" y="5365801"/>
            <a:ext cx="3902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 mapping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Slave</a:t>
            </a:r>
            <a:endParaRPr lang="vi-V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B73DEA-6C19-3B9B-A457-162D17D8B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361534"/>
              </p:ext>
            </p:extLst>
          </p:nvPr>
        </p:nvGraphicFramePr>
        <p:xfrm>
          <a:off x="681037" y="2236311"/>
          <a:ext cx="7781925" cy="304038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1264130079"/>
                    </a:ext>
                  </a:extLst>
                </a:gridCol>
                <a:gridCol w="1164527">
                  <a:extLst>
                    <a:ext uri="{9D8B030D-6E8A-4147-A177-3AD203B41FA5}">
                      <a16:colId xmlns:a16="http://schemas.microsoft.com/office/drawing/2014/main" val="459037385"/>
                    </a:ext>
                  </a:extLst>
                </a:gridCol>
                <a:gridCol w="1588198">
                  <a:extLst>
                    <a:ext uri="{9D8B030D-6E8A-4147-A177-3AD203B41FA5}">
                      <a16:colId xmlns:a16="http://schemas.microsoft.com/office/drawing/2014/main" val="3881779313"/>
                    </a:ext>
                  </a:extLst>
                </a:gridCol>
                <a:gridCol w="1301306">
                  <a:extLst>
                    <a:ext uri="{9D8B030D-6E8A-4147-A177-3AD203B41FA5}">
                      <a16:colId xmlns:a16="http://schemas.microsoft.com/office/drawing/2014/main" val="2684576451"/>
                    </a:ext>
                  </a:extLst>
                </a:gridCol>
                <a:gridCol w="2775394">
                  <a:extLst>
                    <a:ext uri="{9D8B030D-6E8A-4147-A177-3AD203B41FA5}">
                      <a16:colId xmlns:a16="http://schemas.microsoft.com/office/drawing/2014/main" val="386036695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 err="1">
                          <a:solidFill>
                            <a:srgbClr val="FFFFFF"/>
                          </a:solidFill>
                          <a:effectLst/>
                        </a:rPr>
                        <a:t>Slave</a:t>
                      </a:r>
                      <a:r>
                        <a:rPr lang="vi-VN" dirty="0">
                          <a:solidFill>
                            <a:srgbClr val="FFFFFF"/>
                          </a:solidFill>
                          <a:effectLst/>
                        </a:rPr>
                        <a:t> ID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FFFFFF"/>
                          </a:solidFill>
                          <a:effectLst/>
                        </a:rPr>
                        <a:t>Tên Module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FFFFFF"/>
                          </a:solidFill>
                          <a:effectLst/>
                        </a:rPr>
                        <a:t>Địa chỉ Cơ sở (</a:t>
                      </a:r>
                      <a:r>
                        <a:rPr lang="vi-VN" dirty="0" err="1">
                          <a:solidFill>
                            <a:srgbClr val="FFFFFF"/>
                          </a:solidFill>
                          <a:effectLst/>
                        </a:rPr>
                        <a:t>Base</a:t>
                      </a:r>
                      <a:r>
                        <a:rPr lang="vi-VN" dirty="0">
                          <a:solidFill>
                            <a:srgbClr val="FFFFFF"/>
                          </a:solidFill>
                          <a:effectLst/>
                        </a:rPr>
                        <a:t>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FFFFFF"/>
                          </a:solidFill>
                          <a:effectLst/>
                        </a:rPr>
                        <a:t>Kết thúc (End)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FFFFFF"/>
                          </a:solidFill>
                          <a:effectLst/>
                        </a:rPr>
                        <a:t>Mô tả ngắn gọn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236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SRAM (</a:t>
                      </a:r>
                      <a:r>
                        <a:rPr lang="vi-VN" dirty="0" err="1">
                          <a:solidFill>
                            <a:srgbClr val="434343"/>
                          </a:solidFill>
                          <a:effectLst/>
                        </a:rPr>
                        <a:t>Memory</a:t>
                      </a: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0x0000_0000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0x0000_7FFF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</a:rPr>
                        <a:t>Bộ nhớ RAM vật lý 32KB (Chứa Instruction &amp; Data).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3840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 err="1">
                          <a:solidFill>
                            <a:srgbClr val="434343"/>
                          </a:solidFill>
                          <a:effectLst/>
                        </a:rPr>
                        <a:t>Basic</a:t>
                      </a: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 </a:t>
                      </a:r>
                      <a:r>
                        <a:rPr lang="vi-VN" dirty="0" err="1">
                          <a:solidFill>
                            <a:srgbClr val="434343"/>
                          </a:solidFill>
                          <a:effectLst/>
                        </a:rPr>
                        <a:t>Peripherals</a:t>
                      </a:r>
                      <a:endParaRPr lang="vi-VN" dirty="0">
                        <a:solidFill>
                          <a:srgbClr val="434343"/>
                        </a:solidFill>
                        <a:effectLst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0x1000_0000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0x1000_FFFF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Các ngoại vi cơ bản: LED, HEX, LCD, Switches.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644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UART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0x1002_0000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0x1002_FFFF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Cổng giao tiếp nối tiếp (Có TX FIFO dùng cho DMA).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9361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DMA Controller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0x1005_0000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0x1005_FFFF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Bộ điều khiển truy cập bộ nhớ trực tiếp (2 Kênh).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979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ChaCha20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0x1006_0000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0x1006_FFFF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Bộ tăng tốc mã hóa ChaCha20.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685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Poly1305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0x1007_0000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>
                          <a:solidFill>
                            <a:srgbClr val="434343"/>
                          </a:solidFill>
                          <a:effectLst/>
                        </a:rPr>
                        <a:t>0x1007_FFFF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dirty="0">
                          <a:solidFill>
                            <a:srgbClr val="434343"/>
                          </a:solidFill>
                          <a:effectLst/>
                        </a:rPr>
                        <a:t>Bộ tạo mã xác thực thông điệp MAC Poly1305.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77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61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8C54C531-6B77-0389-AC13-41583115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52B055F5-510C-89E9-265C-7D056C11C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2.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Mục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tiêu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–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nhiệm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vụ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đề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tài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34E8EE56-286E-E2C9-4648-B51A683A416F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3707B-A631-C8E4-308B-9E9EAEA44D2E}"/>
              </a:ext>
            </a:extLst>
          </p:cNvPr>
          <p:cNvSpPr txBox="1"/>
          <p:nvPr/>
        </p:nvSpPr>
        <p:spPr>
          <a:xfrm>
            <a:off x="23548" y="1243786"/>
            <a:ext cx="9128732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implement DMA (Direct Memory Access)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giảm</a:t>
            </a:r>
            <a:r>
              <a:rPr lang="en-US" sz="1800" dirty="0"/>
              <a:t> </a:t>
            </a:r>
            <a:r>
              <a:rPr lang="en-US" sz="1800" dirty="0" err="1"/>
              <a:t>tải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CPU, </a:t>
            </a:r>
            <a:r>
              <a:rPr lang="en-US" sz="1800" dirty="0" err="1"/>
              <a:t>tăng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lượng</a:t>
            </a:r>
            <a:r>
              <a:rPr lang="en-US" sz="18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r>
              <a:rPr lang="en-US" sz="1800" dirty="0"/>
              <a:t> Hardware Accelerator ChaCha20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r>
              <a:rPr lang="en-US" sz="1800" dirty="0"/>
              <a:t> Poly1305 MAC Accelerator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Tích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IP core </a:t>
            </a:r>
            <a:r>
              <a:rPr lang="en-US" sz="1800" dirty="0" err="1"/>
              <a:t>vào</a:t>
            </a:r>
            <a:r>
              <a:rPr lang="en-US" sz="1800" dirty="0"/>
              <a:t> RISC-V RV32I </a:t>
            </a:r>
            <a:r>
              <a:rPr lang="en-US" sz="1800" dirty="0" err="1"/>
              <a:t>thông</a:t>
            </a:r>
            <a:r>
              <a:rPr lang="en-US" sz="1800" dirty="0"/>
              <a:t> qua bus TL-UL.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18246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09865533-DCFF-A633-AEA1-15F7F784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F7B18B10-5AF2-B63C-E7A7-4E6D3CE90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38ECD190-5413-C030-4635-112F38F79731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A60686-E826-EAE0-E135-A5D85607D6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82" y="1336262"/>
            <a:ext cx="8390235" cy="41854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DC5F49-F896-55C8-5040-74AC58FC364A}"/>
              </a:ext>
            </a:extLst>
          </p:cNvPr>
          <p:cNvSpPr txBox="1"/>
          <p:nvPr/>
        </p:nvSpPr>
        <p:spPr>
          <a:xfrm>
            <a:off x="2379732" y="5494278"/>
            <a:ext cx="4384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 DMA Controller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69104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DD3CB6C-1DB0-808B-AE74-9E899054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24EE777-C688-D1E0-6CF9-6D5C93E5B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A88A45FC-30DE-BC95-3238-1FF49FC2F610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B1872-E63B-F6ED-7239-B761BD2C049E}"/>
              </a:ext>
            </a:extLst>
          </p:cNvPr>
          <p:cNvSpPr txBox="1"/>
          <p:nvPr/>
        </p:nvSpPr>
        <p:spPr>
          <a:xfrm>
            <a:off x="3171282" y="5941968"/>
            <a:ext cx="3534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DMA CSRs address mapping</a:t>
            </a:r>
            <a:endParaRPr lang="vi-V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EC20EE-5F63-09C6-EFBF-714B4D2D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377207"/>
              </p:ext>
            </p:extLst>
          </p:nvPr>
        </p:nvGraphicFramePr>
        <p:xfrm>
          <a:off x="907456" y="1265204"/>
          <a:ext cx="7329087" cy="4525968"/>
        </p:xfrm>
        <a:graphic>
          <a:graphicData uri="http://schemas.openxmlformats.org/drawingml/2006/table">
            <a:tbl>
              <a:tblPr/>
              <a:tblGrid>
                <a:gridCol w="859736">
                  <a:extLst>
                    <a:ext uri="{9D8B030D-6E8A-4147-A177-3AD203B41FA5}">
                      <a16:colId xmlns:a16="http://schemas.microsoft.com/office/drawing/2014/main" val="4066658293"/>
                    </a:ext>
                  </a:extLst>
                </a:gridCol>
                <a:gridCol w="1212228">
                  <a:extLst>
                    <a:ext uri="{9D8B030D-6E8A-4147-A177-3AD203B41FA5}">
                      <a16:colId xmlns:a16="http://schemas.microsoft.com/office/drawing/2014/main" val="2479028104"/>
                    </a:ext>
                  </a:extLst>
                </a:gridCol>
                <a:gridCol w="859736">
                  <a:extLst>
                    <a:ext uri="{9D8B030D-6E8A-4147-A177-3AD203B41FA5}">
                      <a16:colId xmlns:a16="http://schemas.microsoft.com/office/drawing/2014/main" val="1695990858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325601028"/>
                    </a:ext>
                  </a:extLst>
                </a:gridCol>
                <a:gridCol w="814261">
                  <a:extLst>
                    <a:ext uri="{9D8B030D-6E8A-4147-A177-3AD203B41FA5}">
                      <a16:colId xmlns:a16="http://schemas.microsoft.com/office/drawing/2014/main" val="1057928964"/>
                    </a:ext>
                  </a:extLst>
                </a:gridCol>
                <a:gridCol w="2278301">
                  <a:extLst>
                    <a:ext uri="{9D8B030D-6E8A-4147-A177-3AD203B41FA5}">
                      <a16:colId xmlns:a16="http://schemas.microsoft.com/office/drawing/2014/main" val="3817715112"/>
                    </a:ext>
                  </a:extLst>
                </a:gridCol>
              </a:tblGrid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Offset</a:t>
                      </a:r>
                      <a:endParaRPr lang="vi-VN" sz="1100" b="0" dirty="0">
                        <a:solidFill>
                          <a:srgbClr val="FFFFFF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Địa chỉ Tuyệt đối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Kênh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Tên Thanh ghi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Quyền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Mô tả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30588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+0x00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0x1005_0000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CH0_CONTROL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[0]=en, [1]=src_inc, [2]=dst_inc.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99036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+0x04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0x1005_0004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CH0_STATUS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RO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[0]=busy, [1]=done, [2]=err, [31:16]=remain.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2211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+0x08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0x1005_0008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CH0_SRC_ADDR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Địa chỉ nguồn.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47150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+0x0C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0x1005_000C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CH0_DST_ADDR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Địa chỉ đích.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080390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+0x10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0x1005_0010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CH0_XFER_CNT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Số lượng bytes cần truyền.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629448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+0x20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0x1005_0020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CH1_CONTROL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Cấu hình kênh 1 (Tương tự CH0).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37698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+0x24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0x1005_0024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CH1_STATUS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RO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Trạng thái kênh 1.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6571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+0x28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0x1005_0028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CH1_SRC_ADDR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Địa chỉ nguồn kênh 1.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68489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+0x2C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0x1005_002C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CH1_DST_ADDR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Địa chỉ đích kênh 1.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37880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+0x30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0x1005_0030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CH1_XFER_CNT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R/W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Số lượng </a:t>
                      </a:r>
                      <a:r>
                        <a:rPr lang="vi-VN" sz="11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bytes</a:t>
                      </a:r>
                      <a:r>
                        <a:rPr lang="vi-VN" sz="11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 kênh 1.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25347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+0x40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0x1005_0040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IRQ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IRQ_STATUS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W1C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1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[0]=ch0_irq, [1]=ch1_irq. Ghi 1 để xóa.</a:t>
                      </a:r>
                    </a:p>
                  </a:txBody>
                  <a:tcPr marL="61830" marR="61830" marT="15458" marB="1545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913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41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6270A45A-4127-1053-80A7-E70E493C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DCAA1E08-9C09-A0E9-C860-06BB9FE80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E2B2A58D-2A78-9B4D-EFA2-C156D1AF5241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9CDF2-8314-63D1-4927-A047C737B49B}"/>
              </a:ext>
            </a:extLst>
          </p:cNvPr>
          <p:cNvSpPr txBox="1"/>
          <p:nvPr/>
        </p:nvSpPr>
        <p:spPr>
          <a:xfrm>
            <a:off x="2476713" y="5494278"/>
            <a:ext cx="4190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FSM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khiển</a:t>
            </a:r>
            <a:r>
              <a:rPr lang="en-US" sz="2000" dirty="0"/>
              <a:t> Channel </a:t>
            </a:r>
            <a:r>
              <a:rPr lang="en-US" sz="2000" dirty="0" err="1"/>
              <a:t>của</a:t>
            </a:r>
            <a:r>
              <a:rPr lang="en-US" sz="2000" dirty="0"/>
              <a:t> DMA</a:t>
            </a:r>
            <a:endParaRPr lang="vi-V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22980-C2D6-66BA-67E6-E61DCF7F85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5" y="1556815"/>
            <a:ext cx="7024688" cy="39374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C56D9-2BB9-FAAC-8FAC-D5BB728D60C9}"/>
              </a:ext>
            </a:extLst>
          </p:cNvPr>
          <p:cNvSpPr txBox="1"/>
          <p:nvPr/>
        </p:nvSpPr>
        <p:spPr>
          <a:xfrm>
            <a:off x="0" y="1163667"/>
            <a:ext cx="788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DMA Channel Controller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7450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4B50DCBA-B3D9-D653-9170-EF2E6706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FD3B7AB4-FE8B-92C7-866F-248B722C3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625DCD09-D6EE-AD4C-7D72-B3E20D595806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4D8DB-BD0A-3353-AEF1-38A0FE38CC49}"/>
              </a:ext>
            </a:extLst>
          </p:cNvPr>
          <p:cNvSpPr txBox="1"/>
          <p:nvPr/>
        </p:nvSpPr>
        <p:spPr>
          <a:xfrm>
            <a:off x="0" y="1163667"/>
            <a:ext cx="8860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DMA Channel Controller: Datapath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Channel </a:t>
            </a:r>
            <a:r>
              <a:rPr lang="en-US" sz="2000" dirty="0" err="1"/>
              <a:t>của</a:t>
            </a:r>
            <a:r>
              <a:rPr lang="en-US" sz="2000" dirty="0"/>
              <a:t> DMA</a:t>
            </a:r>
            <a:endParaRPr lang="vi-V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vi-VN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2CD55A-6C30-F8A5-1F13-56DAB11C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940" y="1466270"/>
            <a:ext cx="4881626" cy="494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0AC80B4-85F5-A26A-DEC0-E4F0382D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8E055AC8-43C5-347A-C51F-280F61E3D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63899ED2-CA9F-22D3-C040-6660D1429822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D876B-9E0A-6908-8FE6-46210BE90B2F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Arbiter</a:t>
            </a:r>
            <a:endParaRPr lang="vi-V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40FC5D-4CD4-9AD1-ECFF-217D48BA14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83" y="1832353"/>
            <a:ext cx="7104851" cy="3861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591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D03FDC6B-A073-65CA-1446-06DE25AB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784F7154-140D-46DB-F8C6-A16F15F6C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3.1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 Controller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66ADDF67-951A-DC34-AAFB-877C198AAD9A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4951C-8471-9066-329A-A9390C0D6441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FSM </a:t>
            </a:r>
            <a:r>
              <a:rPr lang="en-US" sz="2000" dirty="0" err="1"/>
              <a:t>cho</a:t>
            </a:r>
            <a:r>
              <a:rPr lang="en-US" sz="2000" dirty="0"/>
              <a:t> DMA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1 Master</a:t>
            </a:r>
            <a:endParaRPr lang="vi-VN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96565-DF7E-C887-C584-9D06BCD30E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62" y="1475929"/>
            <a:ext cx="7573582" cy="4855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3970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73EE8618-1805-FA7D-8173-02920C28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B5E83960-03D9-8972-C8F9-96772D1F4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EBD8DC02-2F0C-4642-211C-08590C094170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B9FF8-57A3-B3EA-EDFE-9FCD3686E09D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tăng</a:t>
            </a:r>
            <a:r>
              <a:rPr lang="en-US" sz="2000" dirty="0"/>
              <a:t> </a:t>
            </a:r>
            <a:r>
              <a:rPr lang="en-US" sz="2000" dirty="0" err="1"/>
              <a:t>tốc</a:t>
            </a:r>
            <a:r>
              <a:rPr lang="en-US" sz="2000" dirty="0"/>
              <a:t>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cứng</a:t>
            </a:r>
            <a:r>
              <a:rPr lang="en-US" sz="2000" dirty="0"/>
              <a:t> ChaCha20</a:t>
            </a:r>
            <a:endParaRPr lang="vi-V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2B1DD-E4F0-006D-F9CE-CC11519CF5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2" y="1681536"/>
            <a:ext cx="8130096" cy="442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2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6AA16929-FCCC-27DA-BE88-647E9C75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060FE7C-B348-2C8B-E58C-8A250337D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AFE179B9-5A25-EE3D-56EC-1235B91319C2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96281-5123-0882-0C07-518FEC10D5F2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Bảng</a:t>
            </a:r>
            <a:r>
              <a:rPr lang="en-US" sz="2000" dirty="0"/>
              <a:t> CSRs mapping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ChaCha20</a:t>
            </a:r>
            <a:endParaRPr lang="vi-VN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F43D18-B0DB-4348-93E6-2C25AA3EA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7648"/>
              </p:ext>
            </p:extLst>
          </p:nvPr>
        </p:nvGraphicFramePr>
        <p:xfrm>
          <a:off x="790956" y="1763832"/>
          <a:ext cx="7562088" cy="4430198"/>
        </p:xfrm>
        <a:graphic>
          <a:graphicData uri="http://schemas.openxmlformats.org/drawingml/2006/table">
            <a:tbl>
              <a:tblPr/>
              <a:tblGrid>
                <a:gridCol w="1331354">
                  <a:extLst>
                    <a:ext uri="{9D8B030D-6E8A-4147-A177-3AD203B41FA5}">
                      <a16:colId xmlns:a16="http://schemas.microsoft.com/office/drawing/2014/main" val="1395503299"/>
                    </a:ext>
                  </a:extLst>
                </a:gridCol>
                <a:gridCol w="1877208">
                  <a:extLst>
                    <a:ext uri="{9D8B030D-6E8A-4147-A177-3AD203B41FA5}">
                      <a16:colId xmlns:a16="http://schemas.microsoft.com/office/drawing/2014/main" val="488451115"/>
                    </a:ext>
                  </a:extLst>
                </a:gridCol>
                <a:gridCol w="1331354">
                  <a:extLst>
                    <a:ext uri="{9D8B030D-6E8A-4147-A177-3AD203B41FA5}">
                      <a16:colId xmlns:a16="http://schemas.microsoft.com/office/drawing/2014/main" val="1627832953"/>
                    </a:ext>
                  </a:extLst>
                </a:gridCol>
                <a:gridCol w="1690818">
                  <a:extLst>
                    <a:ext uri="{9D8B030D-6E8A-4147-A177-3AD203B41FA5}">
                      <a16:colId xmlns:a16="http://schemas.microsoft.com/office/drawing/2014/main" val="703684668"/>
                    </a:ext>
                  </a:extLst>
                </a:gridCol>
                <a:gridCol w="1331354">
                  <a:extLst>
                    <a:ext uri="{9D8B030D-6E8A-4147-A177-3AD203B41FA5}">
                      <a16:colId xmlns:a16="http://schemas.microsoft.com/office/drawing/2014/main" val="3709736544"/>
                    </a:ext>
                  </a:extLst>
                </a:gridCol>
              </a:tblGrid>
              <a:tr h="3232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 dirty="0" err="1">
                          <a:solidFill>
                            <a:srgbClr val="FFFFFF"/>
                          </a:solidFill>
                          <a:effectLst/>
                        </a:rPr>
                        <a:t>Offset</a:t>
                      </a:r>
                      <a:endParaRPr lang="vi-VN" sz="1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FFFFFF"/>
                          </a:solidFill>
                          <a:effectLst/>
                        </a:rPr>
                        <a:t>Dải Địa chỉ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FFFFFF"/>
                          </a:solidFill>
                          <a:effectLst/>
                        </a:rPr>
                        <a:t>Tên Thanh ghi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FFFFFF"/>
                          </a:solidFill>
                          <a:effectLst/>
                        </a:rPr>
                        <a:t>Quyền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FFFFFF"/>
                          </a:solidFill>
                          <a:effectLst/>
                        </a:rPr>
                        <a:t>Mô tả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6032"/>
                  </a:ext>
                </a:extLst>
              </a:tr>
              <a:tr h="47166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+0x00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0x1006_0000 - 0x1006_001C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KEY[0:7]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R/W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Khóa 256-bit (8 words).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63700"/>
                  </a:ext>
                </a:extLst>
              </a:tr>
              <a:tr h="47166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+0x20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0x1006_0020 - 0x1006_0028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NONCE[0:2]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R/W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Nonce 96-bit (3 words).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577767"/>
                  </a:ext>
                </a:extLst>
              </a:tr>
              <a:tr h="62004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+0x2C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0x1006_002C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COUNTER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R/W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Bộ đếm 32-bit (Tự động tăng).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64875"/>
                  </a:ext>
                </a:extLst>
              </a:tr>
              <a:tr h="35380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+0x30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0x1006_0030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CONTROL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W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[0]=start (Tự xóa).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67679"/>
                  </a:ext>
                </a:extLst>
              </a:tr>
              <a:tr h="1919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+0x34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0x1006_0034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STATUS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RO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[0]=ready.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17231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+0x38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0x1006_0038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IRQ_STATUS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W1C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[0]=done_irq.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922279"/>
                  </a:ext>
                </a:extLst>
              </a:tr>
              <a:tr h="76843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+0x40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0x1006_0040 - 0x1006_007C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PTEXT[0:15]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R/W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Khối Plaintext 512-bit (64 bytes).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78657"/>
                  </a:ext>
                </a:extLst>
              </a:tr>
              <a:tr h="76843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+0x80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0x1006_0080 - 0x1006_00BC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CTEXT[0:15]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>
                          <a:solidFill>
                            <a:srgbClr val="434343"/>
                          </a:solidFill>
                          <a:effectLst/>
                        </a:rPr>
                        <a:t>RO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vi-VN" sz="1000" dirty="0">
                          <a:solidFill>
                            <a:srgbClr val="434343"/>
                          </a:solidFill>
                          <a:effectLst/>
                        </a:rPr>
                        <a:t>Khối </a:t>
                      </a:r>
                      <a:r>
                        <a:rPr lang="vi-VN" sz="1000" dirty="0" err="1">
                          <a:solidFill>
                            <a:srgbClr val="434343"/>
                          </a:solidFill>
                          <a:effectLst/>
                        </a:rPr>
                        <a:t>Ciphertext</a:t>
                      </a:r>
                      <a:r>
                        <a:rPr lang="vi-VN" sz="1000" dirty="0">
                          <a:solidFill>
                            <a:srgbClr val="434343"/>
                          </a:solidFill>
                          <a:effectLst/>
                        </a:rPr>
                        <a:t> 512-bit (64 </a:t>
                      </a:r>
                      <a:r>
                        <a:rPr lang="vi-VN" sz="1000" dirty="0" err="1">
                          <a:solidFill>
                            <a:srgbClr val="434343"/>
                          </a:solidFill>
                          <a:effectLst/>
                        </a:rPr>
                        <a:t>bytes</a:t>
                      </a:r>
                      <a:r>
                        <a:rPr lang="vi-VN" sz="1000" dirty="0">
                          <a:solidFill>
                            <a:srgbClr val="434343"/>
                          </a:solidFill>
                          <a:effectLst/>
                        </a:rPr>
                        <a:t>).</a:t>
                      </a:r>
                    </a:p>
                  </a:txBody>
                  <a:tcPr marL="56504" marR="56504" marT="14126" marB="1412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209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32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A5A41FE5-194E-86BE-2D74-FD242E74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1035BFA5-5FDB-FCC1-CB68-0BFC69851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183A38EA-6660-02E9-8B62-5BE135EEF3B3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F6B12-0373-1D1D-DFEE-75CEC0BD4FDF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Bảng</a:t>
            </a:r>
            <a:r>
              <a:rPr lang="en-US" sz="2000" dirty="0"/>
              <a:t> CSRs mapping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ChaCha20</a:t>
            </a:r>
            <a:endParaRPr lang="vi-V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7E264-ADCF-FE7C-F316-2A598AAB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4" y="2412916"/>
            <a:ext cx="7689371" cy="239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89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9B8CA1F0-995E-B35B-4C16-4FE6E7C8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31546BC-96D2-5D87-3D49-336658430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93CEC0F1-80F4-A0B2-0AFA-F18034480C88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79577-96F9-D89F-B03A-4952C6A97CA5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chi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tuần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Quarter Round</a:t>
            </a:r>
            <a:endParaRPr lang="vi-VN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25084-18F2-8095-9166-8EA592DC3A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7" y="3513466"/>
            <a:ext cx="9110450" cy="2588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87E097-459A-AEAA-421C-F5801AF8359C}"/>
                  </a:ext>
                </a:extLst>
              </p:cNvPr>
              <p:cNvSpPr txBox="1"/>
              <p:nvPr/>
            </p:nvSpPr>
            <p:spPr>
              <a:xfrm>
                <a:off x="2264664" y="1615511"/>
                <a:ext cx="4745736" cy="1897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;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14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vi-VN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⋘16</m:t>
                      </m:r>
                    </m:oMath>
                  </m:oMathPara>
                </a14:m>
                <a:endParaRPr lang="vi-VN" sz="1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;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vi-VN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⋘12</m:t>
                      </m:r>
                    </m:oMath>
                  </m:oMathPara>
                </a14:m>
                <a:endParaRPr lang="vi-VN" sz="1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;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vi-VN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⋘8</m:t>
                      </m:r>
                    </m:oMath>
                  </m:oMathPara>
                </a14:m>
                <a:endParaRPr lang="vi-VN" sz="1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;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vi-VN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⋘7</m:t>
                      </m:r>
                    </m:oMath>
                  </m:oMathPara>
                </a14:m>
                <a:endParaRPr lang="vi-VN" sz="14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87E097-459A-AEAA-421C-F5801AF83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664" y="1615511"/>
                <a:ext cx="4745736" cy="1897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65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A800FBBB-5434-9BEB-A85D-4A74B250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E9BED578-1AB4-C3D5-8437-5C0B9C15D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3.2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Thiết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A0A9E473-8398-B3D9-A6DF-E2FE56FAAA4D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C1439-62D3-F7CA-D536-2625071864E5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FSM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khiển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ChaCha20</a:t>
            </a:r>
            <a:endParaRPr lang="vi-V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3A4CC-727D-A1E8-50FB-8BAE32BF34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921" y="1915343"/>
            <a:ext cx="5142157" cy="39773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050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8EDF53F4-0D06-88E4-A4DE-8A0EE733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BD70FE10-C8D9-8865-FBBF-3C7532401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4.1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Xác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minh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701ADC4B-FFDA-49DC-C7BF-82AD3A782264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8C318-9F6A-5072-62B7-14F266DE3849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DMA: </a:t>
            </a:r>
            <a:r>
              <a:rPr lang="en-US" sz="2000" dirty="0" err="1"/>
              <a:t>truyền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kênh</a:t>
            </a:r>
            <a:r>
              <a:rPr lang="en-US" sz="2000" dirty="0"/>
              <a:t> </a:t>
            </a:r>
            <a:endParaRPr lang="vi-V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C3F64-0EFB-94DF-145E-0209EDA3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6778"/>
            <a:ext cx="9062657" cy="1250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9C131-44DF-88B2-5AD7-48A8F3057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157075"/>
            <a:ext cx="9069897" cy="125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9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7B0D1E08-4B46-6E4B-9DFA-B6EFBB2C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3B60324A-3584-DE2A-B638-A01BB390F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4.1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Xác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minh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27D01A18-E132-68AE-7C13-02BC19F730F6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3E3BC-345A-79D8-207E-3C06AA1C0205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DMA: </a:t>
            </a:r>
            <a:r>
              <a:rPr lang="en-US" sz="2000" dirty="0" err="1"/>
              <a:t>truyền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kênh</a:t>
            </a:r>
            <a:r>
              <a:rPr lang="en-US" sz="2000" dirty="0"/>
              <a:t> </a:t>
            </a:r>
            <a:endParaRPr lang="vi-VN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0EF22-6982-EA9F-19D0-8C07AA1C3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993" y="1563777"/>
            <a:ext cx="5700014" cy="467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75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6DEE97D2-BA63-8ED6-5CC3-6134B133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2DD47D2D-0462-2981-8E2F-B3958C29D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4.1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Xác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minh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DMA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6C0F54D3-D32E-D076-D9CA-50F07F03A1BF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36223-D9F3-F9F1-9B02-FC9EC4EFD493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DMA: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CSR</a:t>
            </a:r>
            <a:endParaRPr lang="vi-V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115FB-AC61-7267-C944-1251651A3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3777"/>
            <a:ext cx="9133291" cy="1473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27E420-4A5E-A809-3E0D-679128B2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20" y="3093316"/>
            <a:ext cx="4960049" cy="339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59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B3315D6-EBF8-66FF-EB7D-76E4B726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43BDEB44-2654-A94C-8679-245D6C1CD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542846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4.2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Xác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minh</a:t>
            </a:r>
            <a:r>
              <a:rPr lang="en-US" sz="3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HW accelerator ChaCha20</a:t>
            </a:r>
            <a:endParaRPr sz="3000"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0A847CD1-7AB5-F887-402F-FE82BC1CF925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2BE02-CDB1-639D-6298-34ADC7857802}"/>
              </a:ext>
            </a:extLst>
          </p:cNvPr>
          <p:cNvSpPr txBox="1"/>
          <p:nvPr/>
        </p:nvSpPr>
        <p:spPr>
          <a:xfrm>
            <a:off x="0" y="1163667"/>
            <a:ext cx="8860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khối</a:t>
            </a:r>
            <a:r>
              <a:rPr lang="en-US" sz="2000" dirty="0"/>
              <a:t> ChaCha20 </a:t>
            </a:r>
            <a:endParaRPr lang="vi-V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09728-C073-71D0-D3AD-EEB83987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37" y="1763832"/>
            <a:ext cx="6630325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3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82CDCCDF-7D1A-A3C0-3890-F7004D07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EC00D400-4325-B911-BF29-B1DCEE250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5.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Đánh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giá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kết</a:t>
            </a:r>
            <a:r>
              <a:rPr lang="en-US" sz="4000" b="1" dirty="0">
                <a:solidFill>
                  <a:srgbClr val="3376C7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3376C7"/>
                </a:solidFill>
                <a:latin typeface="Arial"/>
                <a:cs typeface="Arial"/>
                <a:sym typeface="Arial"/>
              </a:rPr>
              <a:t>quả</a:t>
            </a: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7616A3D0-C63B-2A7F-D776-12A07F2FC1B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33B4C-5AB3-9477-9C84-41E977BAD611}"/>
              </a:ext>
            </a:extLst>
          </p:cNvPr>
          <p:cNvSpPr txBox="1"/>
          <p:nvPr/>
        </p:nvSpPr>
        <p:spPr>
          <a:xfrm>
            <a:off x="23548" y="1243786"/>
            <a:ext cx="9128732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Đo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thông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lượng</a:t>
            </a:r>
            <a:r>
              <a:rPr lang="en-US" sz="2400" dirty="0">
                <a:sym typeface="Wingdings" panose="05000000000000000000" pitchFamily="2" charset="2"/>
              </a:rPr>
              <a:t>: </a:t>
            </a:r>
            <a:r>
              <a:rPr lang="en-US" sz="2400" dirty="0" err="1">
                <a:sym typeface="Wingdings" panose="05000000000000000000" pitchFamily="2" charset="2"/>
              </a:rPr>
              <a:t>hệ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thống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xử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lý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được</a:t>
            </a:r>
            <a:r>
              <a:rPr lang="en-US" sz="2400" dirty="0">
                <a:sym typeface="Wingdings" panose="05000000000000000000" pitchFamily="2" charset="2"/>
              </a:rPr>
              <a:t> bao </a:t>
            </a:r>
            <a:r>
              <a:rPr lang="en-US" sz="2400" dirty="0" err="1">
                <a:sym typeface="Wingdings" panose="05000000000000000000" pitchFamily="2" charset="2"/>
              </a:rPr>
              <a:t>nhiêu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dữ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liệu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trong</a:t>
            </a:r>
            <a:r>
              <a:rPr lang="en-US" sz="2400" dirty="0">
                <a:sym typeface="Wingdings" panose="05000000000000000000" pitchFamily="2" charset="2"/>
              </a:rPr>
              <a:t> 1 </a:t>
            </a:r>
            <a:r>
              <a:rPr lang="en-US" sz="2400" dirty="0" err="1">
                <a:sym typeface="Wingdings" panose="05000000000000000000" pitchFamily="2" charset="2"/>
              </a:rPr>
              <a:t>giây</a:t>
            </a:r>
            <a:r>
              <a:rPr lang="en-US" sz="2400" dirty="0">
                <a:sym typeface="Wingdings" panose="05000000000000000000" pitchFamily="2" charset="2"/>
              </a:rPr>
              <a:t> (MB/s)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Đo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độ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trễ</a:t>
            </a:r>
            <a:r>
              <a:rPr lang="en-US" sz="2400" dirty="0">
                <a:sym typeface="Wingdings" panose="05000000000000000000" pitchFamily="2" charset="2"/>
              </a:rPr>
              <a:t>: </a:t>
            </a:r>
            <a:r>
              <a:rPr lang="en-US" sz="2400" dirty="0" err="1">
                <a:sym typeface="Wingdings" panose="05000000000000000000" pitchFamily="2" charset="2"/>
              </a:rPr>
              <a:t>tính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toán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số</a:t>
            </a:r>
            <a:r>
              <a:rPr lang="en-US" sz="2400" dirty="0">
                <a:sym typeface="Wingdings" panose="05000000000000000000" pitchFamily="2" charset="2"/>
              </a:rPr>
              <a:t> Cycle </a:t>
            </a:r>
            <a:r>
              <a:rPr lang="en-US" sz="2400" dirty="0" err="1">
                <a:sym typeface="Wingdings" panose="05000000000000000000" pitchFamily="2" charset="2"/>
              </a:rPr>
              <a:t>của</a:t>
            </a:r>
            <a:r>
              <a:rPr lang="en-US" sz="2400" dirty="0">
                <a:sym typeface="Wingdings" panose="05000000000000000000" pitchFamily="2" charset="2"/>
              </a:rPr>
              <a:t> CPU </a:t>
            </a:r>
            <a:r>
              <a:rPr lang="en-US" sz="2400" dirty="0" err="1">
                <a:sym typeface="Wingdings" panose="05000000000000000000" pitchFamily="2" charset="2"/>
              </a:rPr>
              <a:t>để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xử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lý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xong</a:t>
            </a:r>
            <a:r>
              <a:rPr lang="en-US" sz="2400" dirty="0">
                <a:sym typeface="Wingdings" panose="05000000000000000000" pitchFamily="2" charset="2"/>
              </a:rPr>
              <a:t> 1 </a:t>
            </a:r>
            <a:r>
              <a:rPr lang="en-US" sz="2400" dirty="0" err="1">
                <a:sym typeface="Wingdings" panose="05000000000000000000" pitchFamily="2" charset="2"/>
              </a:rPr>
              <a:t>gói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dữ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liệu</a:t>
            </a:r>
            <a:endParaRPr lang="en-US" sz="2400" dirty="0"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Tài </a:t>
            </a:r>
            <a:r>
              <a:rPr lang="en-US" sz="2400" dirty="0" err="1">
                <a:sym typeface="Wingdings" panose="05000000000000000000" pitchFamily="2" charset="2"/>
              </a:rPr>
              <a:t>nguyên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sử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dụng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trên</a:t>
            </a:r>
            <a:r>
              <a:rPr lang="en-US" sz="2400" dirty="0">
                <a:sym typeface="Wingdings" panose="05000000000000000000" pitchFamily="2" charset="2"/>
              </a:rPr>
              <a:t> FPGA: </a:t>
            </a:r>
            <a:r>
              <a:rPr lang="en-US" sz="2400" dirty="0" err="1">
                <a:sym typeface="Wingdings" panose="05000000000000000000" pitchFamily="2" charset="2"/>
              </a:rPr>
              <a:t>đảm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bảo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thiết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kế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tiết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kiệm</a:t>
            </a:r>
            <a:r>
              <a:rPr lang="en-US" sz="2400" dirty="0">
                <a:sym typeface="Wingdings" panose="05000000000000000000" pitchFamily="2" charset="2"/>
              </a:rPr>
              <a:t> resource </a:t>
            </a:r>
            <a:r>
              <a:rPr lang="en-US" sz="2400" dirty="0" err="1">
                <a:sym typeface="Wingdings" panose="05000000000000000000" pitchFamily="2" charset="2"/>
              </a:rPr>
              <a:t>và</a:t>
            </a:r>
            <a:r>
              <a:rPr lang="en-US" sz="2400" dirty="0">
                <a:sym typeface="Wingdings" panose="05000000000000000000" pitchFamily="2" charset="2"/>
              </a:rPr>
              <a:t> meet timing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So </a:t>
            </a:r>
            <a:r>
              <a:rPr lang="en-US" sz="2400" dirty="0" err="1">
                <a:sym typeface="Wingdings" panose="05000000000000000000" pitchFamily="2" charset="2"/>
              </a:rPr>
              <a:t>sánh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với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nghiên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cứu</a:t>
            </a:r>
            <a:r>
              <a:rPr lang="en-US" sz="2400" dirty="0">
                <a:sym typeface="Wingdings" panose="05000000000000000000" pitchFamily="2" charset="2"/>
              </a:rPr>
              <a:t>/</a:t>
            </a:r>
            <a:r>
              <a:rPr lang="en-US" sz="2400" dirty="0" err="1">
                <a:sym typeface="Wingdings" panose="05000000000000000000" pitchFamily="2" charset="2"/>
              </a:rPr>
              <a:t>bài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báo</a:t>
            </a:r>
            <a:endParaRPr lang="en-US" sz="2400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3C740F-0F68-AF85-18DE-5A0BED26CF4D}"/>
              </a:ext>
            </a:extLst>
          </p:cNvPr>
          <p:cNvSpPr txBox="1"/>
          <p:nvPr/>
        </p:nvSpPr>
        <p:spPr>
          <a:xfrm>
            <a:off x="3676454" y="6519446"/>
            <a:ext cx="2133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Lê Tuấn Khanh </a:t>
            </a:r>
            <a:endParaRPr lang="vi-V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72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C8A45C2C-F51B-8978-95AD-FDB54593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>
            <a:extLst>
              <a:ext uri="{FF2B5EF4-FFF2-40B4-BE49-F238E27FC236}">
                <a16:creationId xmlns:a16="http://schemas.microsoft.com/office/drawing/2014/main" id="{E83EF9AA-91B8-9EF5-8FEE-4C77001B1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089982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endParaRPr dirty="0"/>
          </a:p>
        </p:txBody>
      </p:sp>
      <p:sp>
        <p:nvSpPr>
          <p:cNvPr id="180" name="Google Shape;180;p3">
            <a:extLst>
              <a:ext uri="{FF2B5EF4-FFF2-40B4-BE49-F238E27FC236}">
                <a16:creationId xmlns:a16="http://schemas.microsoft.com/office/drawing/2014/main" id="{9AFC433F-7026-67DA-6F1A-AF35F1EE0648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60060-FA8D-8EBC-D79E-489DAB46B0E5}"/>
              </a:ext>
            </a:extLst>
          </p:cNvPr>
          <p:cNvSpPr txBox="1"/>
          <p:nvPr/>
        </p:nvSpPr>
        <p:spPr>
          <a:xfrm>
            <a:off x="3676454" y="6519446"/>
            <a:ext cx="2133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Lê Tuấn Khanh </a:t>
            </a:r>
            <a:endParaRPr lang="vi-V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561952" y="2197467"/>
            <a:ext cx="610072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9600"/>
              <a:buFont typeface="Arial"/>
              <a:buNone/>
            </a:pPr>
            <a:endParaRPr lang="vi-VN" sz="3200" b="1" dirty="0">
              <a:solidFill>
                <a:srgbClr val="3376C7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9600"/>
              <a:buFont typeface="Arial"/>
              <a:buNone/>
            </a:pPr>
            <a:r>
              <a:rPr lang="vi-VN" sz="3200" b="1" dirty="0">
                <a:solidFill>
                  <a:srgbClr val="3376C7"/>
                </a:solidFill>
              </a:rPr>
              <a:t>EM CẢM ƠN THẦY</a:t>
            </a:r>
            <a:r>
              <a:rPr lang="en-US" sz="3200" b="1" dirty="0">
                <a:solidFill>
                  <a:srgbClr val="3376C7"/>
                </a:solidFill>
              </a:rPr>
              <a:t>/CÔ</a:t>
            </a:r>
            <a:r>
              <a:rPr lang="vi-VN" sz="3200" b="1" dirty="0">
                <a:solidFill>
                  <a:srgbClr val="3376C7"/>
                </a:solidFill>
              </a:rPr>
              <a:t> ĐÃ</a:t>
            </a:r>
            <a:r>
              <a:rPr lang="en-US" sz="3200" b="1" dirty="0">
                <a:solidFill>
                  <a:srgbClr val="3376C7"/>
                </a:solidFill>
              </a:rPr>
              <a:t> HƯỚNG DẪN VÀ</a:t>
            </a:r>
            <a:r>
              <a:rPr lang="vi-VN" sz="3200" b="1" dirty="0">
                <a:solidFill>
                  <a:srgbClr val="3376C7"/>
                </a:solidFill>
              </a:rPr>
              <a:t> LẮNG NGHE</a:t>
            </a:r>
            <a:r>
              <a:rPr lang="en-US" sz="3200" b="1" dirty="0">
                <a:solidFill>
                  <a:srgbClr val="3376C7"/>
                </a:solidFill>
              </a:rPr>
              <a:t> </a:t>
            </a:r>
            <a:r>
              <a:rPr lang="vi-VN" sz="3200" b="1" dirty="0">
                <a:solidFill>
                  <a:srgbClr val="3376C7"/>
                </a:solidFill>
              </a:rPr>
              <a:t>PHẦN TRÌNH BÀY CỦA E</a:t>
            </a:r>
            <a:r>
              <a:rPr lang="en-US" sz="3200" b="1" dirty="0">
                <a:solidFill>
                  <a:srgbClr val="3376C7"/>
                </a:solidFill>
              </a:rPr>
              <a:t>M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0DB44-7E8C-37A6-A59F-89280C60785A}"/>
              </a:ext>
            </a:extLst>
          </p:cNvPr>
          <p:cNvSpPr txBox="1"/>
          <p:nvPr/>
        </p:nvSpPr>
        <p:spPr>
          <a:xfrm>
            <a:off x="0" y="6519446"/>
            <a:ext cx="36764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accent1">
                    <a:lumMod val="75000"/>
                  </a:schemeClr>
                </a:solidFill>
              </a:rPr>
              <a:t>Bộ môn Kỹ Thuật Điện Tử- ĐAMH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vi-V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58AAE-375A-B322-64D0-E187474EF1D7}"/>
              </a:ext>
            </a:extLst>
          </p:cNvPr>
          <p:cNvSpPr txBox="1"/>
          <p:nvPr/>
        </p:nvSpPr>
        <p:spPr>
          <a:xfrm>
            <a:off x="5862325" y="6492875"/>
            <a:ext cx="22961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chemeClr val="accent1">
                    <a:lumMod val="75000"/>
                  </a:schemeClr>
                </a:solidFill>
              </a:rPr>
              <a:t>Ngày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08/01/2026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5447712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3926</TotalTime>
  <Words>1077</Words>
  <Application>Microsoft Office PowerPoint</Application>
  <PresentationFormat>On-screen Show (4:3)</PresentationFormat>
  <Paragraphs>249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Cambria Math</vt:lpstr>
      <vt:lpstr>Roboto</vt:lpstr>
      <vt:lpstr>Times New Roman</vt:lpstr>
      <vt:lpstr>Wingdings</vt:lpstr>
      <vt:lpstr>2_Office Theme</vt:lpstr>
      <vt:lpstr>1_Office Theme</vt:lpstr>
      <vt:lpstr>1_Hoang Trang'course format</vt:lpstr>
      <vt:lpstr>Office Theme</vt:lpstr>
      <vt:lpstr>2_Hoang Trang'course format</vt:lpstr>
      <vt:lpstr>3_Hoang Trang'course format</vt:lpstr>
      <vt:lpstr>4_Hoang Trang'course format</vt:lpstr>
      <vt:lpstr>PowerPoint Presentation</vt:lpstr>
      <vt:lpstr>Nội dung</vt:lpstr>
      <vt:lpstr>1. Giới thiệu tổng quan hệ thống</vt:lpstr>
      <vt:lpstr>1. Giới thiệu tổng quan hệ thống</vt:lpstr>
      <vt:lpstr>1. Giới thiệu tổng quan hệ thống</vt:lpstr>
      <vt:lpstr>2. Mục tiêu – nhiệm vụ đề tài </vt:lpstr>
      <vt:lpstr>3.1 Thiết kế DMA Controller</vt:lpstr>
      <vt:lpstr>3.1 Thiết kế DMA Controller</vt:lpstr>
      <vt:lpstr>3.1 Thiết kế DMA Controller</vt:lpstr>
      <vt:lpstr>3.1 Thiết kế DMA Controller</vt:lpstr>
      <vt:lpstr>3.1 Thiết kế DMA Controller</vt:lpstr>
      <vt:lpstr>3.1 Thiết kế DMA Controller</vt:lpstr>
      <vt:lpstr>3.2 Thiết kế HW accelerator ChaCha20</vt:lpstr>
      <vt:lpstr>3.2 Thiết kế HW accelerator ChaCha20</vt:lpstr>
      <vt:lpstr>3.2 Thiết kế HW accelerator ChaCha20</vt:lpstr>
      <vt:lpstr>3.2 Thiết kế HW accelerator ChaCha20</vt:lpstr>
      <vt:lpstr>3.2 Thiết kế HW accelerator ChaCha20</vt:lpstr>
      <vt:lpstr>4.1 Xác minh DMA</vt:lpstr>
      <vt:lpstr>4.1 Xác minh DMA</vt:lpstr>
      <vt:lpstr>4.1 Xác minh DMA</vt:lpstr>
      <vt:lpstr>4.2 Xác minh HW accelerator ChaCha20</vt:lpstr>
      <vt:lpstr>5. Đánh giá kết quả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HOANG Trang</dc:creator>
  <cp:lastModifiedBy>Khanh Lê Tuấn</cp:lastModifiedBy>
  <cp:revision>99</cp:revision>
  <dcterms:created xsi:type="dcterms:W3CDTF">2010-08-18T20:21:10Z</dcterms:created>
  <dcterms:modified xsi:type="dcterms:W3CDTF">2026-03-29T03:11:51Z</dcterms:modified>
</cp:coreProperties>
</file>